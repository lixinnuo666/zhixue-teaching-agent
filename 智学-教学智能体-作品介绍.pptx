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7429500" y="-666750"/>
            <a:ext cx="5143500" cy="5143500"/>
          </a:xfrm>
          <a:prstGeom prst="ellipse">
            <a:avLst/>
          </a:prstGeom>
          <a:solidFill>
            <a:srgbClr val="14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9525000" y="3714750"/>
            <a:ext cx="3047999" cy="3047999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6286500" y="5429250"/>
            <a:ext cx="6286500" cy="1904999"/>
          </a:xfrm>
          <a:prstGeom prst="ellipse">
            <a:avLst/>
          </a:prstGeom>
          <a:solidFill>
            <a:srgbClr val="1E3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66750" y="1904999"/>
            <a:ext cx="857250" cy="4762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6750" y="1447800"/>
            <a:ext cx="6667499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06B6D4"/>
                </a:solidFill>
                <a:latin typeface="Microsoft YaHei"/>
              </a:rPr>
              <a:t>粤港澳大湾区 AI Coding 创新大赛 · AI 应用创新赛道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50" y="2133599"/>
            <a:ext cx="7238999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200" b="1">
                <a:solidFill>
                  <a:srgbClr val="FFFFFF"/>
                </a:solidFill>
                <a:latin typeface="Microsoft YaHei"/>
              </a:rPr>
              <a:t>智学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50" y="3162299"/>
            <a:ext cx="7238999" cy="781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0" b="1">
                <a:solidFill>
                  <a:srgbClr val="FFFFFF"/>
                </a:solidFill>
                <a:latin typeface="Microsoft YaHei"/>
              </a:rPr>
              <a:t>多模态教学智能体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50" y="4210049"/>
            <a:ext cx="6667499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600" b="0">
                <a:solidFill>
                  <a:srgbClr val="CBD5E1"/>
                </a:solidFill>
                <a:latin typeface="Microsoft YaHei"/>
              </a:rPr>
              <a:t>把一份讲义，变成一张可交互的知识网络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6750" y="4724399"/>
            <a:ext cx="666749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93A9C9"/>
                </a:solidFill>
                <a:latin typeface="Microsoft YaHei"/>
              </a:rPr>
              <a:t>零后端 · 纯前端 · 本地检索 ＋ 大模型生成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6750" y="5200650"/>
            <a:ext cx="9525" cy="704849"/>
          </a:xfrm>
          <a:prstGeom prst="rect">
            <a:avLst/>
          </a:prstGeom>
          <a:solidFill>
            <a:srgbClr val="334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76299" y="5219700"/>
            <a:ext cx="5715000" cy="323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越众队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299" y="5829300"/>
            <a:ext cx="723899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64748B"/>
                </a:solidFill>
                <a:latin typeface="Microsoft YaHei"/>
              </a:rPr>
              <a:t>李信诺（金融科技学院）  ·  李承杰（计算机与软件学院）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66750" y="323849"/>
            <a:ext cx="66674" cy="438149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76299" y="304800"/>
            <a:ext cx="8572500" cy="4762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0F172A"/>
                </a:solidFill>
                <a:latin typeface="Microsoft YaHei"/>
              </a:rP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666750" y="6210299"/>
            <a:ext cx="108585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66750" y="6324599"/>
            <a:ext cx="6667499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Microsoft YaHei"/>
              </a:rPr>
              <a:t>智学 · 多模态教学智能体  ｜  越众队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1250" y="6324599"/>
            <a:ext cx="1523999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Microsoft YaHei"/>
              </a:rPr>
              <a:t>02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6750" y="1238249"/>
            <a:ext cx="2857500" cy="4905375"/>
          </a:xfrm>
          <a:prstGeom prst="roundRect">
            <a:avLst>
              <a:gd name="adj" fmla="val 4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52499" y="1638299"/>
            <a:ext cx="2286000" cy="247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BFDBFE"/>
                </a:solidFill>
                <a:latin typeface="Arial"/>
              </a:rPr>
              <a:t>CONTENTS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499" y="1981199"/>
            <a:ext cx="2286000" cy="533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</a:rPr>
              <a:t>作品导读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499" y="2724150"/>
            <a:ext cx="2286000" cy="142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5000"/>
              </a:lnSpc>
            </a:pPr>
            <a:r>
              <a:rPr sz="1600" b="0">
                <a:solidFill>
                  <a:srgbClr val="DBEAFE"/>
                </a:solidFill>
                <a:latin typeface="Microsoft YaHei"/>
              </a:rPr>
              <a:t>从真实教学痛点出发，</a:t>
            </a:r>
          </a:p>
          <a:p>
            <a:pPr algn="l">
              <a:lnSpc>
                <a:spcPct val="175000"/>
              </a:lnSpc>
            </a:pPr>
            <a:r>
              <a:rPr sz="1600" b="0">
                <a:solidFill>
                  <a:srgbClr val="DBEAFE"/>
                </a:solidFill>
                <a:latin typeface="Microsoft YaHei"/>
              </a:rPr>
              <a:t>拆解「智学」的能力构成、</a:t>
            </a:r>
          </a:p>
          <a:p>
            <a:pPr algn="l">
              <a:lnSpc>
                <a:spcPct val="175000"/>
              </a:lnSpc>
            </a:pPr>
            <a:r>
              <a:rPr sz="1600" b="0">
                <a:solidFill>
                  <a:srgbClr val="DBEAFE"/>
                </a:solidFill>
                <a:latin typeface="Microsoft YaHei"/>
              </a:rPr>
              <a:t>AI 技术路径与工程取舍，</a:t>
            </a:r>
          </a:p>
          <a:p>
            <a:pPr algn="l">
              <a:lnSpc>
                <a:spcPct val="175000"/>
              </a:lnSpc>
            </a:pPr>
            <a:r>
              <a:rPr sz="1600" b="0">
                <a:solidFill>
                  <a:srgbClr val="DBEAFE"/>
                </a:solidFill>
                <a:latin typeface="Microsoft YaHei"/>
              </a:rPr>
              <a:t>并交代团队的协作方式。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05249" y="1333500"/>
            <a:ext cx="590549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563EB"/>
                </a:solidFill>
                <a:latin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9150" y="1362075"/>
            <a:ext cx="5905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0F172A"/>
                </a:solidFill>
                <a:latin typeface="Microsoft YaHei"/>
              </a:rPr>
              <a:t>问题与定位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9150" y="1771650"/>
            <a:ext cx="609599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475569"/>
                </a:solidFill>
                <a:latin typeface="Microsoft YaHei"/>
              </a:rPr>
              <a:t>讲义为什么用不起来，作品到底是什么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05249" y="2114550"/>
            <a:ext cx="7619999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905249" y="2286000"/>
            <a:ext cx="590549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563EB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2314575"/>
            <a:ext cx="5905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0F172A"/>
                </a:solidFill>
                <a:latin typeface="Microsoft YaHei"/>
              </a:rPr>
              <a:t>赛题对应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9150" y="2724150"/>
            <a:ext cx="609599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475569"/>
                </a:solidFill>
                <a:latin typeface="Microsoft YaHei"/>
              </a:rPr>
              <a:t>方向一：AI + 教学管理助手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05249" y="3067050"/>
            <a:ext cx="7619999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3905249" y="3238500"/>
            <a:ext cx="590549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563EB"/>
                </a:solidFill>
                <a:latin typeface="Arial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9150" y="3267075"/>
            <a:ext cx="5905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0F172A"/>
                </a:solidFill>
                <a:latin typeface="Microsoft YaHei"/>
              </a:rPr>
              <a:t>AI 能力拆解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29150" y="3676649"/>
            <a:ext cx="609599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475569"/>
                </a:solidFill>
                <a:latin typeface="Microsoft YaHei"/>
              </a:rPr>
              <a:t>多模态解析 / 知识图谱 / RAG 答疑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05249" y="4019549"/>
            <a:ext cx="7619999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905249" y="4190999"/>
            <a:ext cx="590549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563EB"/>
                </a:solidFill>
                <a:latin typeface="Arial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29150" y="4219575"/>
            <a:ext cx="5905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0F172A"/>
                </a:solidFill>
                <a:latin typeface="Microsoft YaHei"/>
              </a:rPr>
              <a:t>工程与工具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29150" y="4629150"/>
            <a:ext cx="609599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475569"/>
                </a:solidFill>
                <a:latin typeface="Microsoft YaHei"/>
              </a:rPr>
              <a:t>零后端架构、韧性设计、LearnBuddy 实践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05249" y="4972050"/>
            <a:ext cx="7619999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3905249" y="5143500"/>
            <a:ext cx="590549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563EB"/>
                </a:solidFill>
                <a:latin typeface="Arial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29150" y="5172075"/>
            <a:ext cx="5905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0F172A"/>
                </a:solidFill>
                <a:latin typeface="Microsoft YaHei"/>
              </a:rPr>
              <a:t>团队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29150" y="5581649"/>
            <a:ext cx="609599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475569"/>
                </a:solidFill>
                <a:latin typeface="Microsoft YaHei"/>
              </a:rPr>
              <a:t>跨专业组队与分工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05249" y="5924549"/>
            <a:ext cx="7619999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66750" y="323849"/>
            <a:ext cx="66674" cy="438149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76299" y="304800"/>
            <a:ext cx="8572500" cy="4762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0F172A"/>
                </a:solidFill>
                <a:latin typeface="Microsoft YaHei"/>
              </a:rPr>
              <a:t>讲义为什么用不起来</a:t>
            </a:r>
          </a:p>
        </p:txBody>
      </p:sp>
      <p:sp>
        <p:nvSpPr>
          <p:cNvPr id="4" name="Rectangle 3"/>
          <p:cNvSpPr/>
          <p:nvPr/>
        </p:nvSpPr>
        <p:spPr>
          <a:xfrm>
            <a:off x="666750" y="6210299"/>
            <a:ext cx="108585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66750" y="6324599"/>
            <a:ext cx="6667499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Microsoft YaHei"/>
              </a:rPr>
              <a:t>智学 · 多模态教学智能体  ｜  越众队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1250" y="6324599"/>
            <a:ext cx="1523999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Microsoft YaHei"/>
              </a:rPr>
              <a:t>03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50" y="1333500"/>
            <a:ext cx="2857500" cy="1904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0" b="1">
                <a:solidFill>
                  <a:srgbClr val="F59E0B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900" y="3047999"/>
            <a:ext cx="2857500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0F172A"/>
                </a:solidFill>
                <a:latin typeface="Microsoft YaHei"/>
              </a:rPr>
              <a:t>类真实教学痛点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900" y="3543300"/>
            <a:ext cx="2762249" cy="10477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700" b="0">
                <a:solidFill>
                  <a:srgbClr val="475569"/>
                </a:solidFill>
                <a:latin typeface="Microsoft YaHei"/>
              </a:rPr>
              <a:t>设计之前我们先问自己：</a:t>
            </a:r>
          </a:p>
          <a:p>
            <a:pPr algn="l">
              <a:lnSpc>
                <a:spcPct val="170000"/>
              </a:lnSpc>
            </a:pPr>
            <a:r>
              <a:rPr sz="1700" b="0">
                <a:solidFill>
                  <a:srgbClr val="475569"/>
                </a:solidFill>
                <a:latin typeface="Microsoft YaHei"/>
              </a:rPr>
              <a:t>一份讲义拿到手之后，</a:t>
            </a:r>
          </a:p>
          <a:p>
            <a:pPr algn="l">
              <a:lnSpc>
                <a:spcPct val="170000"/>
              </a:lnSpc>
            </a:pPr>
            <a:r>
              <a:rPr sz="1700" b="0">
                <a:solidFill>
                  <a:srgbClr val="475569"/>
                </a:solidFill>
                <a:latin typeface="Microsoft YaHei"/>
              </a:rPr>
              <a:t>学生到底卡在哪一步？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05249" y="1333500"/>
            <a:ext cx="7619999" cy="16002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905249" y="1333500"/>
            <a:ext cx="66674" cy="1600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229100" y="1543050"/>
            <a:ext cx="857250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2563EB"/>
                </a:solidFill>
                <a:latin typeface="Arial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86350" y="1543050"/>
            <a:ext cx="62865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>
                <a:solidFill>
                  <a:srgbClr val="0F172A"/>
                </a:solidFill>
                <a:latin typeface="Microsoft YaHei"/>
              </a:rPr>
              <a:t>讲义是静态的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29100" y="2057400"/>
            <a:ext cx="7067549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600" b="0">
                <a:solidFill>
                  <a:srgbClr val="475569"/>
                </a:solidFill>
                <a:latin typeface="Microsoft YaHei"/>
              </a:rPr>
              <a:t>课件、PDF、截图堆在文件夹里，知识点散落各处，无法检索也无法关联，考前只能从头再翻一遍。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05249" y="2933699"/>
            <a:ext cx="7619999" cy="16002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3905249" y="2933699"/>
            <a:ext cx="66674" cy="1600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229100" y="3143250"/>
            <a:ext cx="857250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2563EB"/>
                </a:solidFill>
                <a:latin typeface="Arial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6350" y="3143250"/>
            <a:ext cx="62865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>
                <a:solidFill>
                  <a:srgbClr val="0F172A"/>
                </a:solidFill>
                <a:latin typeface="Microsoft YaHei"/>
              </a:rPr>
              <a:t>复习没有抓手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29100" y="3657600"/>
            <a:ext cx="7067549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600" b="0">
                <a:solidFill>
                  <a:srgbClr val="475569"/>
                </a:solidFill>
                <a:latin typeface="Microsoft YaHei"/>
              </a:rPr>
              <a:t>不知道哪些是重点、哪里没真正掌握，错题散落各处，缺少可量化的掌握度反馈。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05249" y="4533900"/>
            <a:ext cx="7619999" cy="16002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3905249" y="4533900"/>
            <a:ext cx="66674" cy="16002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229100" y="4743450"/>
            <a:ext cx="857250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2563EB"/>
                </a:solidFill>
                <a:latin typeface="Arial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6350" y="4743450"/>
            <a:ext cx="62865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>
                <a:solidFill>
                  <a:srgbClr val="0F172A"/>
                </a:solidFill>
                <a:latin typeface="Microsoft YaHei"/>
              </a:rPr>
              <a:t>答疑排不上队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29100" y="5257800"/>
            <a:ext cx="7067549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600" b="0">
                <a:solidFill>
                  <a:srgbClr val="475569"/>
                </a:solidFill>
                <a:latin typeface="Microsoft YaHei"/>
              </a:rPr>
              <a:t>课后问题得不到及时回应，老师反复解答同类问题，个性化辅导根本无从谈起。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66750" y="323849"/>
            <a:ext cx="66674" cy="438149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76299" y="304800"/>
            <a:ext cx="8572500" cy="4762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0F172A"/>
                </a:solidFill>
                <a:latin typeface="Microsoft YaHei"/>
              </a:rPr>
              <a:t>作品简介</a:t>
            </a:r>
          </a:p>
        </p:txBody>
      </p:sp>
      <p:sp>
        <p:nvSpPr>
          <p:cNvPr id="4" name="Rectangle 3"/>
          <p:cNvSpPr/>
          <p:nvPr/>
        </p:nvSpPr>
        <p:spPr>
          <a:xfrm>
            <a:off x="666750" y="6210299"/>
            <a:ext cx="108585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66750" y="6324599"/>
            <a:ext cx="6667499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Microsoft YaHei"/>
              </a:rPr>
              <a:t>智学 · 多模态教学智能体  ｜  越众队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1250" y="6324599"/>
            <a:ext cx="1523999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Microsoft YaHei"/>
              </a:rPr>
              <a:t>04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6750" y="1219200"/>
            <a:ext cx="10858500" cy="3067050"/>
          </a:xfrm>
          <a:prstGeom prst="roundRect">
            <a:avLst>
              <a:gd name="adj" fmla="val 3500"/>
            </a:avLst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971550" y="1485900"/>
            <a:ext cx="95249" cy="95249"/>
          </a:xfrm>
          <a:prstGeom prst="ellipse">
            <a:avLst/>
          </a:prstGeom>
          <a:solidFill>
            <a:srgbClr val="476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1181099" y="1485900"/>
            <a:ext cx="95249" cy="95249"/>
          </a:xfrm>
          <a:prstGeom prst="ellipse">
            <a:avLst/>
          </a:prstGeom>
          <a:solidFill>
            <a:srgbClr val="476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1390650" y="1485900"/>
            <a:ext cx="95249" cy="95249"/>
          </a:xfrm>
          <a:prstGeom prst="ellipse">
            <a:avLst/>
          </a:prstGeom>
          <a:solidFill>
            <a:srgbClr val="476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1600200" y="1447800"/>
            <a:ext cx="4381499" cy="152400"/>
          </a:xfrm>
          <a:prstGeom prst="roundRect">
            <a:avLst>
              <a:gd name="adj" fmla="val 50000"/>
            </a:avLst>
          </a:prstGeom>
          <a:solidFill>
            <a:srgbClr val="1E3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1550" y="1828800"/>
            <a:ext cx="4952999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>
                <a:solidFill>
                  <a:srgbClr val="06B6D4"/>
                </a:solidFill>
                <a:latin typeface="Microsoft YaHei"/>
              </a:rPr>
              <a:t>智学 · 一站式学习工作台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9149" y="2266950"/>
            <a:ext cx="1409699" cy="838200"/>
          </a:xfrm>
          <a:prstGeom prst="roundRect">
            <a:avLst>
              <a:gd name="adj" fmla="val 9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19149" y="2362199"/>
            <a:ext cx="14096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BFDBFE"/>
                </a:solidFill>
                <a:latin typeface="Arial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149" y="2609850"/>
            <a:ext cx="1409699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图文解析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238375" y="2647949"/>
            <a:ext cx="95249" cy="95249"/>
          </a:xfrm>
          <a:prstGeom prst="rightArrow">
            <a:avLst/>
          </a:prstGeom>
          <a:solidFill>
            <a:srgbClr val="3355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2343150" y="2266950"/>
            <a:ext cx="1409699" cy="838200"/>
          </a:xfrm>
          <a:prstGeom prst="roundRect">
            <a:avLst>
              <a:gd name="adj" fmla="val 9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2343150" y="2362199"/>
            <a:ext cx="14096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BFDBFE"/>
                </a:solidFill>
                <a:latin typeface="Arial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43150" y="2609850"/>
            <a:ext cx="1409699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知识结构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762374" y="2647949"/>
            <a:ext cx="95249" cy="95249"/>
          </a:xfrm>
          <a:prstGeom prst="rightArrow">
            <a:avLst/>
          </a:prstGeom>
          <a:solidFill>
            <a:srgbClr val="3355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3867149" y="2266950"/>
            <a:ext cx="1409699" cy="838200"/>
          </a:xfrm>
          <a:prstGeom prst="roundRect">
            <a:avLst>
              <a:gd name="adj" fmla="val 9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867149" y="2362199"/>
            <a:ext cx="14096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BFDBFE"/>
                </a:solidFill>
                <a:latin typeface="Arial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67149" y="2609850"/>
            <a:ext cx="1409699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知识图谱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286375" y="2647949"/>
            <a:ext cx="95249" cy="95249"/>
          </a:xfrm>
          <a:prstGeom prst="rightArrow">
            <a:avLst/>
          </a:prstGeom>
          <a:solidFill>
            <a:srgbClr val="3355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5391150" y="2266950"/>
            <a:ext cx="1409699" cy="838200"/>
          </a:xfrm>
          <a:prstGeom prst="roundRect">
            <a:avLst>
              <a:gd name="adj" fmla="val 9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391150" y="2362199"/>
            <a:ext cx="14096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BFDBFE"/>
                </a:solidFill>
                <a:latin typeface="Arial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1150" y="2609850"/>
            <a:ext cx="1409699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答疑辅导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6810374" y="2647949"/>
            <a:ext cx="95249" cy="95249"/>
          </a:xfrm>
          <a:prstGeom prst="rightArrow">
            <a:avLst/>
          </a:prstGeom>
          <a:solidFill>
            <a:srgbClr val="3355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915150" y="2266950"/>
            <a:ext cx="1409699" cy="838200"/>
          </a:xfrm>
          <a:prstGeom prst="roundRect">
            <a:avLst>
              <a:gd name="adj" fmla="val 9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915150" y="2362199"/>
            <a:ext cx="14096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BFDBFE"/>
                </a:solidFill>
                <a:latin typeface="Arial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15150" y="2609850"/>
            <a:ext cx="1409699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练习测评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8334374" y="2647949"/>
            <a:ext cx="95249" cy="95249"/>
          </a:xfrm>
          <a:prstGeom prst="rightArrow">
            <a:avLst/>
          </a:prstGeom>
          <a:solidFill>
            <a:srgbClr val="3355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39150" y="2266950"/>
            <a:ext cx="1409699" cy="838200"/>
          </a:xfrm>
          <a:prstGeom prst="roundRect">
            <a:avLst>
              <a:gd name="adj" fmla="val 9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39150" y="2362199"/>
            <a:ext cx="14096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BFDBFE"/>
                </a:solidFill>
                <a:latin typeface="Arial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39150" y="2609850"/>
            <a:ext cx="1409699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学习报告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9858375" y="2647949"/>
            <a:ext cx="95249" cy="95249"/>
          </a:xfrm>
          <a:prstGeom prst="rightArrow">
            <a:avLst/>
          </a:prstGeom>
          <a:solidFill>
            <a:srgbClr val="3355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9963149" y="2266950"/>
            <a:ext cx="1409699" cy="838200"/>
          </a:xfrm>
          <a:prstGeom prst="roundRect">
            <a:avLst>
              <a:gd name="adj" fmla="val 9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9963149" y="2362199"/>
            <a:ext cx="14096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BFDBFE"/>
                </a:solidFill>
                <a:latin typeface="Arial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63149" y="2609850"/>
            <a:ext cx="1409699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知识库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1550" y="3352800"/>
            <a:ext cx="10248899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800" b="0">
                <a:solidFill>
                  <a:srgbClr val="C7D6EC"/>
                </a:solidFill>
                <a:latin typeface="Microsoft YaHei"/>
              </a:rPr>
              <a:t>上传讲义 → 自动解析知识点 → 生成思维导图与关系图谱 → 基于原文答疑 → 自动出题并生成学习报告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6750" y="4343400"/>
            <a:ext cx="10858500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1">
                <a:solidFill>
                  <a:srgbClr val="0F172A"/>
                </a:solidFill>
                <a:latin typeface="Microsoft YaHei"/>
              </a:rPr>
              <a:t>一句话定位：把静态讲义重组成可检索、可关联、可检验的知识网络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66750" y="4952999"/>
            <a:ext cx="5334000" cy="116205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914400" y="5162550"/>
            <a:ext cx="495299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2563EB"/>
                </a:solidFill>
                <a:latin typeface="Microsoft YaHei"/>
              </a:rPr>
              <a:t>源码版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5657850"/>
            <a:ext cx="50292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475569"/>
                </a:solidFill>
                <a:latin typeface="Microsoft YaHei"/>
              </a:rPr>
              <a:t>原生 ES Module，分模块组织，便于二次开发。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91250" y="4952999"/>
            <a:ext cx="5334000" cy="116205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438899" y="5162550"/>
            <a:ext cx="495299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2563EB"/>
                </a:solidFill>
                <a:latin typeface="Microsoft YaHei"/>
              </a:rPr>
              <a:t>单文件版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38899" y="5657850"/>
            <a:ext cx="50292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475569"/>
                </a:solidFill>
                <a:latin typeface="Microsoft YaHei"/>
              </a:rPr>
              <a:t>CSS / JS 全内联为一个 HTML，双击即可运行。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6095999" y="-857250"/>
            <a:ext cx="6477000" cy="6477000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-666750" y="4476750"/>
            <a:ext cx="4190999" cy="4190999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333500" y="1447800"/>
            <a:ext cx="952500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600" b="1">
                <a:solidFill>
                  <a:srgbClr val="BFDBFE"/>
                </a:solidFill>
                <a:latin typeface="Arial"/>
              </a:rPr>
              <a:t>SAI  TI  FANG  XIANG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1866899"/>
            <a:ext cx="9525000" cy="76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5600" b="1">
                <a:solidFill>
                  <a:srgbClr val="FFFFFF"/>
                </a:solidFill>
                <a:latin typeface="Microsoft YaHei"/>
              </a:rPr>
              <a:t>方向一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2705099"/>
            <a:ext cx="952500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4800" b="1">
                <a:solidFill>
                  <a:srgbClr val="FFFFFF"/>
                </a:solidFill>
                <a:latin typeface="Microsoft YaHei"/>
              </a:rPr>
              <a:t>AI + 教学管理助手</a:t>
            </a:r>
          </a:p>
        </p:txBody>
      </p:sp>
      <p:sp>
        <p:nvSpPr>
          <p:cNvPr id="8" name="Rectangle 7"/>
          <p:cNvSpPr/>
          <p:nvPr/>
        </p:nvSpPr>
        <p:spPr>
          <a:xfrm>
            <a:off x="5619750" y="3562349"/>
            <a:ext cx="952499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33500" y="3752849"/>
            <a:ext cx="9525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5200" b="1">
                <a:solidFill>
                  <a:srgbClr val="F59E0B"/>
                </a:solidFill>
                <a:latin typeface="Microsoft YaHei"/>
              </a:rPr>
              <a:t>多模态教学智能体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4999" y="4762500"/>
            <a:ext cx="8381999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5000"/>
              </a:lnSpc>
            </a:pPr>
            <a:r>
              <a:rPr sz="1900" b="0">
                <a:solidFill>
                  <a:srgbClr val="DBEAFE"/>
                </a:solidFill>
                <a:latin typeface="Microsoft YaHei"/>
              </a:rPr>
              <a:t>与赛事手册给出的示例题目完全对应：以多模态输入（讲义图片 / 文本）为入口，</a:t>
            </a:r>
          </a:p>
          <a:p>
            <a:pPr algn="ctr">
              <a:lnSpc>
                <a:spcPct val="165000"/>
              </a:lnSpc>
            </a:pPr>
            <a:r>
              <a:rPr sz="1900" b="0">
                <a:solidFill>
                  <a:srgbClr val="DBEAFE"/>
                </a:solidFill>
                <a:latin typeface="Microsoft YaHei"/>
              </a:rPr>
              <a:t>完成知识点结构化、知识图谱构建、智能答疑与学习评估的完整闭环。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3500" y="6324599"/>
            <a:ext cx="952500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500" b="0">
                <a:solidFill>
                  <a:srgbClr val="BFDBFE"/>
                </a:solidFill>
                <a:latin typeface="Microsoft YaHei"/>
              </a:rPr>
              <a:t>深大计软 × 腾讯云 · 粤港澳大湾区 AI Coding 创新大赛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66750" y="323849"/>
            <a:ext cx="66674" cy="438149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76299" y="304800"/>
            <a:ext cx="8572500" cy="4762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0F172A"/>
                </a:solidFill>
                <a:latin typeface="Microsoft YaHei"/>
              </a:rPr>
              <a:t>从一份讲义到一张知识网络</a:t>
            </a:r>
          </a:p>
        </p:txBody>
      </p:sp>
      <p:sp>
        <p:nvSpPr>
          <p:cNvPr id="4" name="Rectangle 3"/>
          <p:cNvSpPr/>
          <p:nvPr/>
        </p:nvSpPr>
        <p:spPr>
          <a:xfrm>
            <a:off x="666750" y="6210299"/>
            <a:ext cx="108585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66750" y="6324599"/>
            <a:ext cx="6667499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Microsoft YaHei"/>
              </a:rPr>
              <a:t>智学 · 多模态教学智能体  ｜  越众队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1250" y="6324599"/>
            <a:ext cx="1523999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Microsoft YaHei"/>
              </a:rPr>
              <a:t>06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6750" y="1295399"/>
            <a:ext cx="6572250" cy="7429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66750" y="1295399"/>
            <a:ext cx="66674" cy="7429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914400" y="1371600"/>
            <a:ext cx="361950" cy="36195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1371600"/>
            <a:ext cx="36195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28750" y="1304925"/>
            <a:ext cx="219074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1">
                <a:solidFill>
                  <a:srgbClr val="0F172A"/>
                </a:solidFill>
                <a:latin typeface="Microsoft YaHei"/>
              </a:rPr>
              <a:t>素材输入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8750" y="1676400"/>
            <a:ext cx="55244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475569"/>
                </a:solidFill>
                <a:latin typeface="Microsoft YaHei"/>
              </a:rPr>
              <a:t>讲义截图、照片，或直接粘贴文本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809999" y="2047874"/>
            <a:ext cx="228600" cy="38100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66750" y="2095499"/>
            <a:ext cx="6572250" cy="74295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66750" y="2095499"/>
            <a:ext cx="66674" cy="74295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14400" y="2171700"/>
            <a:ext cx="361950" cy="36195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4400" y="2171700"/>
            <a:ext cx="36195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28750" y="2105024"/>
            <a:ext cx="219074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1">
                <a:solidFill>
                  <a:srgbClr val="0F172A"/>
                </a:solidFill>
                <a:latin typeface="Microsoft YaHei"/>
              </a:rPr>
              <a:t>图文解析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28750" y="2476499"/>
            <a:ext cx="55244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475569"/>
                </a:solidFill>
                <a:latin typeface="Microsoft YaHei"/>
              </a:rPr>
              <a:t>视觉分析 + OCR 识别，失败自动降级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809999" y="2847974"/>
            <a:ext cx="228600" cy="38100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66750" y="2895600"/>
            <a:ext cx="6572250" cy="7429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666750" y="2895600"/>
            <a:ext cx="66674" cy="7429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914400" y="2971800"/>
            <a:ext cx="361950" cy="36195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14400" y="2971800"/>
            <a:ext cx="36195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28750" y="2905124"/>
            <a:ext cx="219074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1">
                <a:solidFill>
                  <a:srgbClr val="0F172A"/>
                </a:solidFill>
                <a:latin typeface="Microsoft YaHei"/>
              </a:rPr>
              <a:t>知识点抽取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28750" y="3276599"/>
            <a:ext cx="55244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475569"/>
                </a:solidFill>
                <a:latin typeface="Microsoft YaHei"/>
              </a:rPr>
              <a:t>术语、公式、概念关系自动识别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3809999" y="3648074"/>
            <a:ext cx="228600" cy="38100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666750" y="3695699"/>
            <a:ext cx="6572250" cy="74295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66750" y="3695699"/>
            <a:ext cx="66674" cy="74295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914400" y="3771900"/>
            <a:ext cx="361950" cy="36195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14400" y="3771900"/>
            <a:ext cx="36195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28750" y="3705224"/>
            <a:ext cx="219074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1">
                <a:solidFill>
                  <a:srgbClr val="0F172A"/>
                </a:solidFill>
                <a:latin typeface="Microsoft YaHei"/>
              </a:rPr>
              <a:t>结构与图谱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28750" y="4076699"/>
            <a:ext cx="55244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475569"/>
                </a:solidFill>
                <a:latin typeface="Microsoft YaHei"/>
              </a:rPr>
              <a:t>思维导图 + 力导向知识图谱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3809999" y="4448175"/>
            <a:ext cx="228600" cy="38100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666750" y="4495799"/>
            <a:ext cx="6572250" cy="7429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666750" y="4495799"/>
            <a:ext cx="66674" cy="7429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914400" y="4572000"/>
            <a:ext cx="361950" cy="36195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914400" y="4572000"/>
            <a:ext cx="36195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28750" y="4505325"/>
            <a:ext cx="219074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1">
                <a:solidFill>
                  <a:srgbClr val="0F172A"/>
                </a:solidFill>
                <a:latin typeface="Microsoft YaHei"/>
              </a:rPr>
              <a:t>智能答疑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28750" y="4876800"/>
            <a:ext cx="55244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475569"/>
                </a:solidFill>
                <a:latin typeface="Microsoft YaHei"/>
              </a:rPr>
              <a:t>本地检索 ＋ 大模型生成（RAG）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3809999" y="5248275"/>
            <a:ext cx="228600" cy="38100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ounded Rectangle 41"/>
          <p:cNvSpPr/>
          <p:nvPr/>
        </p:nvSpPr>
        <p:spPr>
          <a:xfrm>
            <a:off x="666750" y="5295899"/>
            <a:ext cx="6572250" cy="74295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666750" y="5295899"/>
            <a:ext cx="66674" cy="74295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914400" y="5372100"/>
            <a:ext cx="361950" cy="36195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914400" y="5372100"/>
            <a:ext cx="36195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28750" y="5305425"/>
            <a:ext cx="219074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1">
                <a:solidFill>
                  <a:srgbClr val="0F172A"/>
                </a:solidFill>
                <a:latin typeface="Microsoft YaHei"/>
              </a:rPr>
              <a:t>测评与报告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28750" y="5676900"/>
            <a:ext cx="55244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475569"/>
                </a:solidFill>
                <a:latin typeface="Microsoft YaHei"/>
              </a:rPr>
              <a:t>自动出题、判分、掌握度雷达图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953249" y="1295399"/>
            <a:ext cx="4572000" cy="4838699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7219950" y="1562100"/>
            <a:ext cx="403859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2563EB"/>
                </a:solidFill>
                <a:latin typeface="Microsoft YaHei"/>
              </a:rPr>
              <a:t>设计取舍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19950" y="2114550"/>
            <a:ext cx="4038599" cy="285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600" b="0">
                <a:solidFill>
                  <a:srgbClr val="475569"/>
                </a:solidFill>
                <a:latin typeface="Microsoft YaHei"/>
              </a:rPr>
              <a:t>整条链路不依赖后端，</a:t>
            </a:r>
          </a:p>
          <a:p>
            <a:pPr algn="l">
              <a:lnSpc>
                <a:spcPct val="160000"/>
              </a:lnSpc>
            </a:pPr>
            <a:r>
              <a:rPr sz="1600" b="0">
                <a:solidFill>
                  <a:srgbClr val="475569"/>
                </a:solidFill>
                <a:latin typeface="Microsoft YaHei"/>
              </a:rPr>
              <a:t>每一步都在浏览器本地完成。</a:t>
            </a:r>
          </a:p>
          <a:p>
            <a:pPr algn="l">
              <a:lnSpc>
                <a:spcPct val="160000"/>
              </a:lnSpc>
            </a:pPr>
            <a:r>
              <a:rPr sz="1600" b="0">
                <a:solidFill>
                  <a:srgbClr val="475569"/>
                </a:solidFill>
                <a:latin typeface="Microsoft YaHei"/>
              </a:rPr>
              <a:t>输出能被下一步复用：</a:t>
            </a:r>
          </a:p>
          <a:p>
            <a:pPr algn="l">
              <a:lnSpc>
                <a:spcPct val="160000"/>
              </a:lnSpc>
            </a:pPr>
            <a:r>
              <a:rPr sz="1600" b="0">
                <a:solidFill>
                  <a:srgbClr val="475569"/>
                </a:solidFill>
                <a:latin typeface="Microsoft YaHei"/>
              </a:rPr>
              <a:t>解析结果进入语料库，</a:t>
            </a:r>
          </a:p>
          <a:p>
            <a:pPr algn="l">
              <a:lnSpc>
                <a:spcPct val="160000"/>
              </a:lnSpc>
            </a:pPr>
            <a:r>
              <a:rPr sz="1600" b="0">
                <a:solidFill>
                  <a:srgbClr val="475569"/>
                </a:solidFill>
                <a:latin typeface="Microsoft YaHei"/>
              </a:rPr>
              <a:t>知识点既喂给图谱，</a:t>
            </a:r>
          </a:p>
          <a:p>
            <a:pPr algn="l">
              <a:lnSpc>
                <a:spcPct val="160000"/>
              </a:lnSpc>
            </a:pPr>
            <a:r>
              <a:rPr sz="1600" b="0">
                <a:solidFill>
                  <a:srgbClr val="475569"/>
                </a:solidFill>
                <a:latin typeface="Microsoft YaHei"/>
              </a:rPr>
              <a:t>也喂给答疑和出题。</a:t>
            </a:r>
          </a:p>
          <a:p>
            <a:pPr algn="l">
              <a:lnSpc>
                <a:spcPct val="160000"/>
              </a:lnSpc>
            </a:pPr>
            <a:r>
              <a:rPr sz="1600" b="0">
                <a:solidFill>
                  <a:srgbClr val="475569"/>
                </a:solidFill>
                <a:latin typeface="Microsoft YaHei"/>
              </a:rPr>
              <a:t>一次输入，六个环节自动串起。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219950" y="5295899"/>
            <a:ext cx="4038599" cy="590549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7219950" y="5295899"/>
            <a:ext cx="4038599" cy="5905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900" b="1">
                <a:solidFill>
                  <a:srgbClr val="FFFFFF"/>
                </a:solidFill>
                <a:latin typeface="Microsoft YaHei"/>
              </a:rPr>
              <a:t>一次输入，全链路复用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66750" y="323849"/>
            <a:ext cx="66674" cy="438149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76299" y="304800"/>
            <a:ext cx="8572500" cy="4762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0F172A"/>
                </a:solidFill>
                <a:latin typeface="Microsoft YaHei"/>
              </a:rPr>
              <a:t>AI 能力一：多模态图文解析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666750" y="6210299"/>
            <a:ext cx="108585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66750" y="6324599"/>
            <a:ext cx="6667499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Microsoft YaHei"/>
              </a:rPr>
              <a:t>智学 · 多模态教学智能体  ｜  越众队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1250" y="6324599"/>
            <a:ext cx="1523999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Microsoft YaHei"/>
              </a:rPr>
              <a:t>07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6750" y="1238249"/>
            <a:ext cx="6095999" cy="4762500"/>
          </a:xfrm>
          <a:prstGeom prst="roundRect">
            <a:avLst>
              <a:gd name="adj" fmla="val 3500"/>
            </a:avLst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914400" y="1504950"/>
            <a:ext cx="5334000" cy="2590799"/>
          </a:xfrm>
          <a:prstGeom prst="roundRect">
            <a:avLst>
              <a:gd name="adj" fmla="val 2000"/>
            </a:avLst>
          </a:prstGeom>
          <a:solidFill>
            <a:srgbClr val="1E3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1104900" y="1809749"/>
            <a:ext cx="2857500" cy="85725"/>
          </a:xfrm>
          <a:prstGeom prst="roundRect">
            <a:avLst>
              <a:gd name="adj" fmla="val 50000"/>
            </a:avLst>
          </a:prstGeom>
          <a:solidFill>
            <a:srgbClr val="3B5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1104900" y="2114550"/>
            <a:ext cx="3524250" cy="85725"/>
          </a:xfrm>
          <a:prstGeom prst="roundRect">
            <a:avLst>
              <a:gd name="adj" fmla="val 50000"/>
            </a:avLst>
          </a:prstGeom>
          <a:solidFill>
            <a:srgbClr val="3B5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1104900" y="2419349"/>
            <a:ext cx="4190999" cy="85725"/>
          </a:xfrm>
          <a:prstGeom prst="roundRect">
            <a:avLst>
              <a:gd name="adj" fmla="val 50000"/>
            </a:avLst>
          </a:prstGeom>
          <a:solidFill>
            <a:srgbClr val="3B5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1104900" y="2724150"/>
            <a:ext cx="2857500" cy="85725"/>
          </a:xfrm>
          <a:prstGeom prst="roundRect">
            <a:avLst>
              <a:gd name="adj" fmla="val 50000"/>
            </a:avLst>
          </a:prstGeom>
          <a:solidFill>
            <a:srgbClr val="3B5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1104900" y="3028950"/>
            <a:ext cx="3524250" cy="85725"/>
          </a:xfrm>
          <a:prstGeom prst="roundRect">
            <a:avLst>
              <a:gd name="adj" fmla="val 50000"/>
            </a:avLst>
          </a:prstGeom>
          <a:solidFill>
            <a:srgbClr val="3B5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1104900" y="3333749"/>
            <a:ext cx="4190999" cy="85725"/>
          </a:xfrm>
          <a:prstGeom prst="roundRect">
            <a:avLst>
              <a:gd name="adj" fmla="val 50000"/>
            </a:avLst>
          </a:prstGeom>
          <a:solidFill>
            <a:srgbClr val="3B5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1104900" y="3638550"/>
            <a:ext cx="2857500" cy="85725"/>
          </a:xfrm>
          <a:prstGeom prst="roundRect">
            <a:avLst>
              <a:gd name="adj" fmla="val 50000"/>
            </a:avLst>
          </a:prstGeom>
          <a:solidFill>
            <a:srgbClr val="3B5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104900" y="1771650"/>
            <a:ext cx="4952999" cy="2857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1104900" y="3829050"/>
            <a:ext cx="4952999" cy="2857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4400" y="4210049"/>
            <a:ext cx="5334000" cy="247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06B6D4"/>
                </a:solidFill>
                <a:latin typeface="Microsoft YaHei"/>
              </a:rPr>
              <a:t>扫描线 → 文字区定位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3449" y="4476750"/>
            <a:ext cx="819149" cy="609600"/>
          </a:xfrm>
          <a:prstGeom prst="roundRect">
            <a:avLst>
              <a:gd name="adj" fmla="val 12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3449" y="4552949"/>
            <a:ext cx="819149" cy="247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尺寸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449" y="4810124"/>
            <a:ext cx="819149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BFDBFE"/>
                </a:solidFill>
                <a:latin typeface="Microsoft YaHei"/>
              </a:rPr>
              <a:t>画幅与分辨率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28800" y="4476750"/>
            <a:ext cx="819149" cy="609600"/>
          </a:xfrm>
          <a:prstGeom prst="roundRect">
            <a:avLst>
              <a:gd name="adj" fmla="val 12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828800" y="4552949"/>
            <a:ext cx="819149" cy="247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主色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4810124"/>
            <a:ext cx="819149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BFDBFE"/>
                </a:solidFill>
                <a:latin typeface="Microsoft YaHei"/>
              </a:rPr>
              <a:t>色彩分布提取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24150" y="4476750"/>
            <a:ext cx="819149" cy="609600"/>
          </a:xfrm>
          <a:prstGeom prst="roundRect">
            <a:avLst>
              <a:gd name="adj" fmla="val 12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2724150" y="4552949"/>
            <a:ext cx="819149" cy="247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清晰度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24150" y="4810124"/>
            <a:ext cx="819149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BFDBFE"/>
                </a:solidFill>
                <a:latin typeface="Microsoft YaHei"/>
              </a:rPr>
              <a:t>梯度方差估计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19499" y="4476750"/>
            <a:ext cx="819149" cy="609600"/>
          </a:xfrm>
          <a:prstGeom prst="roundRect">
            <a:avLst>
              <a:gd name="adj" fmla="val 12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3619499" y="4552949"/>
            <a:ext cx="819149" cy="247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倾斜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9499" y="4810124"/>
            <a:ext cx="819149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BFDBFE"/>
                </a:solidFill>
                <a:latin typeface="Microsoft YaHei"/>
              </a:rPr>
              <a:t>边缘角度检测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14850" y="4476750"/>
            <a:ext cx="819149" cy="609600"/>
          </a:xfrm>
          <a:prstGeom prst="roundRect">
            <a:avLst>
              <a:gd name="adj" fmla="val 12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514850" y="4552949"/>
            <a:ext cx="819149" cy="247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分栏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14850" y="4810124"/>
            <a:ext cx="819149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BFDBFE"/>
                </a:solidFill>
                <a:latin typeface="Microsoft YaHei"/>
              </a:rPr>
              <a:t>版面结构判定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10199" y="4476750"/>
            <a:ext cx="819149" cy="609600"/>
          </a:xfrm>
          <a:prstGeom prst="roundRect">
            <a:avLst>
              <a:gd name="adj" fmla="val 12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410199" y="4552949"/>
            <a:ext cx="819149" cy="247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文字区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10199" y="4810124"/>
            <a:ext cx="819149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BFDBFE"/>
                </a:solidFill>
                <a:latin typeface="Microsoft YaHei"/>
              </a:rPr>
              <a:t>文本块定位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219700"/>
            <a:ext cx="5334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06B6D4"/>
                </a:solidFill>
                <a:latin typeface="Microsoft YaHei"/>
              </a:rPr>
              <a:t>六维视觉指标实时计算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5581649"/>
            <a:ext cx="533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C7D6EC"/>
                </a:solidFill>
                <a:latin typeface="Microsoft YaHei"/>
              </a:rPr>
              <a:t>纯 Canvas 2D 逐像素分析，不调用任何视觉云服务。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953249" y="1295399"/>
            <a:ext cx="4572000" cy="14859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6953249" y="1295399"/>
            <a:ext cx="66674" cy="14859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219950" y="1466849"/>
            <a:ext cx="4095749" cy="323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0F172A"/>
                </a:solidFill>
                <a:latin typeface="Microsoft YaHei"/>
              </a:rPr>
              <a:t>OCR 文字识别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19950" y="1866899"/>
            <a:ext cx="4133849" cy="781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600" b="0">
                <a:solidFill>
                  <a:srgbClr val="475569"/>
                </a:solidFill>
                <a:latin typeface="Microsoft YaHei"/>
              </a:rPr>
              <a:t>集成 Tesseract.js，联网下载一次中文模型后即可离线识别，中英文混排可用。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953249" y="2895600"/>
            <a:ext cx="4572000" cy="148590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6953249" y="2895600"/>
            <a:ext cx="66674" cy="14859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219950" y="3067050"/>
            <a:ext cx="4095749" cy="323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0F172A"/>
                </a:solidFill>
                <a:latin typeface="Microsoft YaHei"/>
              </a:rPr>
              <a:t>失败自动降级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19950" y="3467100"/>
            <a:ext cx="4133849" cy="781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600" b="0">
                <a:solidFill>
                  <a:srgbClr val="475569"/>
                </a:solidFill>
                <a:latin typeface="Microsoft YaHei"/>
              </a:rPr>
              <a:t>模型下载失败或识别超时，自动切换为「粘贴文本」通道，其余功能完全不受影响。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953249" y="4495799"/>
            <a:ext cx="4572000" cy="14859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6953249" y="4495799"/>
            <a:ext cx="66674" cy="14859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7219950" y="4667249"/>
            <a:ext cx="4095749" cy="323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0F172A"/>
                </a:solidFill>
                <a:latin typeface="Microsoft YaHei"/>
              </a:rPr>
              <a:t>素材统一入库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19950" y="5067299"/>
            <a:ext cx="4133849" cy="781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600" b="0">
                <a:solidFill>
                  <a:srgbClr val="475569"/>
                </a:solidFill>
                <a:latin typeface="Microsoft YaHei"/>
              </a:rPr>
              <a:t>识别结果与手动输入走同一套语料结构，后续抽取、答疑、出题无需区分来源。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66750" y="323849"/>
            <a:ext cx="66674" cy="438149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76299" y="304800"/>
            <a:ext cx="8572500" cy="4762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0F172A"/>
                </a:solidFill>
                <a:latin typeface="Microsoft YaHei"/>
              </a:rPr>
              <a:t>AI 能力二：知识抽取与图谱</a:t>
            </a:r>
          </a:p>
        </p:txBody>
      </p:sp>
      <p:sp>
        <p:nvSpPr>
          <p:cNvPr id="4" name="Rectangle 3"/>
          <p:cNvSpPr/>
          <p:nvPr/>
        </p:nvSpPr>
        <p:spPr>
          <a:xfrm>
            <a:off x="666750" y="6210299"/>
            <a:ext cx="108585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66750" y="6324599"/>
            <a:ext cx="6667499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Microsoft YaHei"/>
              </a:rPr>
              <a:t>智学 · 多模态教学智能体  ｜  越众队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1250" y="6324599"/>
            <a:ext cx="1523999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Microsoft YaHei"/>
              </a:rPr>
              <a:t>08 / 14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19499" y="3638550"/>
            <a:ext cx="0" cy="1600199"/>
          </a:xfrm>
          <a:prstGeom prst="line">
            <a:avLst/>
          </a:prstGeom>
          <a:ln w="25400">
            <a:solidFill>
              <a:srgbClr val="C7D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2299677" y="3638550"/>
            <a:ext cx="1319822" cy="800100"/>
          </a:xfrm>
          <a:prstGeom prst="line">
            <a:avLst/>
          </a:prstGeom>
          <a:ln w="25400">
            <a:solidFill>
              <a:srgbClr val="C7D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 flipV="1">
            <a:off x="2299677" y="2838450"/>
            <a:ext cx="1319822" cy="800100"/>
          </a:xfrm>
          <a:prstGeom prst="line">
            <a:avLst/>
          </a:prstGeom>
          <a:ln w="25400">
            <a:solidFill>
              <a:srgbClr val="C7D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3619499" y="2038349"/>
            <a:ext cx="0" cy="1600201"/>
          </a:xfrm>
          <a:prstGeom prst="line">
            <a:avLst/>
          </a:prstGeom>
          <a:ln w="25400">
            <a:solidFill>
              <a:srgbClr val="C7D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3619499" y="2838449"/>
            <a:ext cx="1319823" cy="800101"/>
          </a:xfrm>
          <a:prstGeom prst="line">
            <a:avLst/>
          </a:prstGeom>
          <a:ln w="25400">
            <a:solidFill>
              <a:srgbClr val="C7D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619499" y="3638550"/>
            <a:ext cx="1319823" cy="800099"/>
          </a:xfrm>
          <a:prstGeom prst="line">
            <a:avLst/>
          </a:prstGeom>
          <a:ln w="25400">
            <a:solidFill>
              <a:srgbClr val="C7D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2971800" y="2990849"/>
            <a:ext cx="1295399" cy="1295399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971800" y="2990849"/>
            <a:ext cx="1295399" cy="12953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2100" b="1">
                <a:solidFill>
                  <a:srgbClr val="FFFFFF"/>
                </a:solidFill>
                <a:latin typeface="Microsoft YaHei"/>
              </a:rPr>
              <a:t>知识点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28950" y="5029200"/>
            <a:ext cx="1181099" cy="419100"/>
          </a:xfrm>
          <a:prstGeom prst="roundRect">
            <a:avLst>
              <a:gd name="adj" fmla="val 3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028950" y="5029200"/>
            <a:ext cx="1181099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光合作用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09127" y="4229100"/>
            <a:ext cx="1181099" cy="419100"/>
          </a:xfrm>
          <a:prstGeom prst="roundRect">
            <a:avLst>
              <a:gd name="adj" fmla="val 3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709127" y="4229100"/>
            <a:ext cx="1181099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叶绿体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09127" y="2628900"/>
            <a:ext cx="1181099" cy="419100"/>
          </a:xfrm>
          <a:prstGeom prst="roundRect">
            <a:avLst>
              <a:gd name="adj" fmla="val 3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709127" y="2628900"/>
            <a:ext cx="1181099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光反应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28949" y="1828800"/>
            <a:ext cx="1181099" cy="419100"/>
          </a:xfrm>
          <a:prstGeom prst="roundRect">
            <a:avLst>
              <a:gd name="adj" fmla="val 3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028949" y="1828800"/>
            <a:ext cx="1181099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暗反应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8772" y="2628899"/>
            <a:ext cx="1181099" cy="419100"/>
          </a:xfrm>
          <a:prstGeom prst="roundRect">
            <a:avLst>
              <a:gd name="adj" fmla="val 3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348772" y="2628899"/>
            <a:ext cx="1181099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ATP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8772" y="4229099"/>
            <a:ext cx="1181099" cy="419100"/>
          </a:xfrm>
          <a:prstGeom prst="roundRect">
            <a:avLst>
              <a:gd name="adj" fmla="val 3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4348772" y="4229099"/>
            <a:ext cx="1181099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葡萄糖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676900"/>
            <a:ext cx="5905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64748B"/>
                </a:solidFill>
                <a:latin typeface="Microsoft YaHei"/>
              </a:rPr>
              <a:t>力导向关系图谱 · Canvas 手绘 · 支持拖拽钉住与缩放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53249" y="1295399"/>
            <a:ext cx="4572000" cy="1047749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953249" y="1295399"/>
            <a:ext cx="66674" cy="1047749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219950" y="1466849"/>
            <a:ext cx="409574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0F172A"/>
                </a:solidFill>
                <a:latin typeface="Microsoft YaHei"/>
              </a:rPr>
              <a:t>分词与向量化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19950" y="1866899"/>
            <a:ext cx="413384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475569"/>
                </a:solidFill>
                <a:latin typeface="Microsoft YaHei"/>
              </a:rPr>
              <a:t>按 n-gram 与词典混合切分，构建词频向量。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53249" y="2495550"/>
            <a:ext cx="4572000" cy="1047749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6953249" y="2495550"/>
            <a:ext cx="66674" cy="1047749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219950" y="2667000"/>
            <a:ext cx="409574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0F172A"/>
                </a:solidFill>
                <a:latin typeface="Microsoft YaHei"/>
              </a:rPr>
              <a:t>TF-IDF 加权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19950" y="3067050"/>
            <a:ext cx="413384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475569"/>
                </a:solidFill>
                <a:latin typeface="Microsoft YaHei"/>
              </a:rPr>
              <a:t>压低通用词权重，让专业术语浮上来。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53249" y="3695699"/>
            <a:ext cx="4572000" cy="1047749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6953249" y="3695699"/>
            <a:ext cx="66674" cy="1047749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219950" y="3867149"/>
            <a:ext cx="409574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0F172A"/>
                </a:solidFill>
                <a:latin typeface="Microsoft YaHei"/>
              </a:rPr>
              <a:t>余弦相似度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19950" y="4267199"/>
            <a:ext cx="413384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475569"/>
                </a:solidFill>
                <a:latin typeface="Microsoft YaHei"/>
              </a:rPr>
              <a:t>用向量夹角衡量知识点相关度。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953249" y="4895849"/>
            <a:ext cx="4572000" cy="1047749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6953249" y="4895849"/>
            <a:ext cx="66674" cy="1047749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219950" y="5067299"/>
            <a:ext cx="409574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0F172A"/>
                </a:solidFill>
                <a:latin typeface="Microsoft YaHei"/>
              </a:rPr>
              <a:t>Dice 系数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19950" y="5467349"/>
            <a:ext cx="413384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475569"/>
                </a:solidFill>
                <a:latin typeface="Microsoft YaHei"/>
              </a:rPr>
              <a:t>补充字面重合度，提升短术语匹配率。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66750" y="323849"/>
            <a:ext cx="66674" cy="438149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76299" y="304800"/>
            <a:ext cx="8572500" cy="4762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0F172A"/>
                </a:solidFill>
                <a:latin typeface="Microsoft YaHei"/>
              </a:rPr>
              <a:t>AI 能力三：RAG 智能答疑</a:t>
            </a:r>
          </a:p>
        </p:txBody>
      </p:sp>
      <p:sp>
        <p:nvSpPr>
          <p:cNvPr id="4" name="Rectangle 3"/>
          <p:cNvSpPr/>
          <p:nvPr/>
        </p:nvSpPr>
        <p:spPr>
          <a:xfrm>
            <a:off x="666750" y="6210299"/>
            <a:ext cx="108585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66750" y="6324599"/>
            <a:ext cx="6667499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Microsoft YaHei"/>
              </a:rPr>
              <a:t>智学 · 多模态教学智能体  ｜  越众队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1250" y="6324599"/>
            <a:ext cx="1523999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Microsoft YaHei"/>
              </a:rPr>
              <a:t>09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50" y="1333500"/>
            <a:ext cx="2857500" cy="1904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0" b="1">
                <a:solidFill>
                  <a:srgbClr val="F59E0B"/>
                </a:solidFill>
                <a:latin typeface="Arial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900" y="3047999"/>
            <a:ext cx="2857500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0F172A"/>
                </a:solidFill>
                <a:latin typeface="Microsoft YaHei"/>
              </a:rPr>
              <a:t>种讲解方式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900" y="3543300"/>
            <a:ext cx="2667000" cy="161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600" b="0">
                <a:solidFill>
                  <a:srgbClr val="475569"/>
                </a:solidFill>
                <a:latin typeface="Microsoft YaHei"/>
              </a:rPr>
              <a:t>直接回答 / 分步讲解</a:t>
            </a:r>
          </a:p>
          <a:p>
            <a:pPr algn="l">
              <a:lnSpc>
                <a:spcPct val="170000"/>
              </a:lnSpc>
            </a:pPr>
            <a:r>
              <a:rPr sz="1600" b="0">
                <a:solidFill>
                  <a:srgbClr val="475569"/>
                </a:solidFill>
                <a:latin typeface="Microsoft YaHei"/>
              </a:rPr>
              <a:t>举例说明 / 引导启发</a:t>
            </a:r>
          </a:p>
          <a:p>
            <a:pPr algn="l">
              <a:lnSpc>
                <a:spcPct val="170000"/>
              </a:lnSpc>
            </a:pPr>
            <a:r>
              <a:rPr sz="1600" b="0">
                <a:solidFill>
                  <a:srgbClr val="475569"/>
                </a:solidFill>
                <a:latin typeface="Microsoft YaHei"/>
              </a:rPr>
              <a:t/>
            </a:r>
          </a:p>
          <a:p>
            <a:pPr algn="l">
              <a:lnSpc>
                <a:spcPct val="170000"/>
              </a:lnSpc>
            </a:pPr>
            <a:r>
              <a:rPr sz="1600" b="0">
                <a:solidFill>
                  <a:srgbClr val="475569"/>
                </a:solidFill>
                <a:latin typeface="Microsoft YaHei"/>
              </a:rPr>
              <a:t>风格约束一并传给大模型</a:t>
            </a:r>
          </a:p>
          <a:p>
            <a:pPr algn="l">
              <a:lnSpc>
                <a:spcPct val="170000"/>
              </a:lnSpc>
            </a:pPr>
            <a:r>
              <a:rPr sz="1600" b="0">
                <a:solidFill>
                  <a:srgbClr val="475569"/>
                </a:solidFill>
                <a:latin typeface="Microsoft YaHei"/>
              </a:rPr>
              <a:t>同一个问题，讲出四种味道。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3749" y="1409699"/>
            <a:ext cx="1504950" cy="876299"/>
          </a:xfrm>
          <a:prstGeom prst="roundRect">
            <a:avLst>
              <a:gd name="adj" fmla="val 8000"/>
            </a:avLst>
          </a:prstGeom>
          <a:solidFill>
            <a:srgbClr val="1E3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333749" y="1409699"/>
            <a:ext cx="1504950" cy="876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学生提问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857750" y="1790700"/>
            <a:ext cx="114300" cy="114300"/>
          </a:xfrm>
          <a:prstGeom prst="rightArrow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991100" y="1409699"/>
            <a:ext cx="1504950" cy="876299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991100" y="1409699"/>
            <a:ext cx="1504950" cy="876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本地检索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515100" y="1790700"/>
            <a:ext cx="114300" cy="114300"/>
          </a:xfrm>
          <a:prstGeom prst="rightArrow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991100" y="2362199"/>
            <a:ext cx="1504950" cy="247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300" b="0">
                <a:solidFill>
                  <a:srgbClr val="2563EB"/>
                </a:solidFill>
                <a:latin typeface="Microsoft YaHei"/>
              </a:rPr>
              <a:t>检索层 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48450" y="1409699"/>
            <a:ext cx="1504950" cy="876299"/>
          </a:xfrm>
          <a:prstGeom prst="roundRect">
            <a:avLst>
              <a:gd name="adj" fmla="val 8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648450" y="1409699"/>
            <a:ext cx="1504950" cy="876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素材片段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172450" y="1790700"/>
            <a:ext cx="114300" cy="114300"/>
          </a:xfrm>
          <a:prstGeom prst="rightArrow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305799" y="1409699"/>
            <a:ext cx="1504950" cy="876299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305799" y="1409699"/>
            <a:ext cx="1504950" cy="876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大模型生成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829800" y="1790700"/>
            <a:ext cx="114300" cy="114300"/>
          </a:xfrm>
          <a:prstGeom prst="rightArrow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305799" y="2362199"/>
            <a:ext cx="1504950" cy="247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300" b="0">
                <a:solidFill>
                  <a:srgbClr val="F59E0B"/>
                </a:solidFill>
                <a:latin typeface="Microsoft YaHei"/>
              </a:rPr>
              <a:t>生成层 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63149" y="1409699"/>
            <a:ext cx="1504950" cy="876299"/>
          </a:xfrm>
          <a:prstGeom prst="roundRect">
            <a:avLst>
              <a:gd name="adj" fmla="val 8000"/>
            </a:avLst>
          </a:prstGeom>
          <a:solidFill>
            <a:srgbClr val="1E3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963149" y="1409699"/>
            <a:ext cx="1504950" cy="876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带标签答案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33749" y="2705099"/>
            <a:ext cx="8134349" cy="1581149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3600450" y="2876549"/>
            <a:ext cx="7600950" cy="323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1">
                <a:solidFill>
                  <a:srgbClr val="0F172A"/>
                </a:solidFill>
                <a:latin typeface="Microsoft YaHei"/>
              </a:rPr>
              <a:t>为什么是 RAG，而不是直接问大模型？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00450" y="3390899"/>
            <a:ext cx="760095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600" b="0">
                <a:solidFill>
                  <a:srgbClr val="475569"/>
                </a:solidFill>
                <a:latin typeface="Microsoft YaHei"/>
              </a:rPr>
              <a:t>本地检索负责「找得准」：TF-IDF 与余弦相似度从你自己的材料里召回原文；</a:t>
            </a:r>
          </a:p>
          <a:p>
            <a:pPr algn="l">
              <a:lnSpc>
                <a:spcPct val="155000"/>
              </a:lnSpc>
            </a:pPr>
            <a:r>
              <a:rPr sz="1600" b="0">
                <a:solidFill>
                  <a:srgbClr val="475569"/>
                </a:solidFill>
                <a:latin typeface="Microsoft YaHei"/>
              </a:rPr>
              <a:t>大模型负责「讲得好」：素材里没写的一律声明，抑制幻觉。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33749" y="4438649"/>
            <a:ext cx="813434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1">
                <a:solidFill>
                  <a:srgbClr val="0F172A"/>
                </a:solidFill>
                <a:latin typeface="Microsoft YaHei"/>
              </a:rPr>
              <a:t>四种讲解方式（透传至大模型）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33749" y="4838699"/>
            <a:ext cx="1885950" cy="53339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3333749" y="4838699"/>
            <a:ext cx="1885950" cy="5333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800" b="1">
                <a:solidFill>
                  <a:srgbClr val="2563EB"/>
                </a:solidFill>
                <a:latin typeface="Microsoft YaHei"/>
              </a:rPr>
              <a:t>直接回答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10199" y="4838699"/>
            <a:ext cx="1885950" cy="53339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410199" y="4838699"/>
            <a:ext cx="1885950" cy="5333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800" b="1">
                <a:solidFill>
                  <a:srgbClr val="2563EB"/>
                </a:solidFill>
                <a:latin typeface="Microsoft YaHei"/>
              </a:rPr>
              <a:t>分步讲解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86650" y="4838699"/>
            <a:ext cx="1885950" cy="53339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486650" y="4838699"/>
            <a:ext cx="1885950" cy="5333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800" b="1">
                <a:solidFill>
                  <a:srgbClr val="2563EB"/>
                </a:solidFill>
                <a:latin typeface="Microsoft YaHei"/>
              </a:rPr>
              <a:t>举例说明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63099" y="4838699"/>
            <a:ext cx="1885950" cy="533399"/>
          </a:xfrm>
          <a:prstGeom prst="roundRect">
            <a:avLst>
              <a:gd name="adj" fmla="val 10000"/>
            </a:avLst>
          </a:prstGeom>
          <a:solidFill>
            <a:srgbClr val="FFF7ED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9563099" y="4838699"/>
            <a:ext cx="1885950" cy="5333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800" b="1">
                <a:solidFill>
                  <a:srgbClr val="F59E0B"/>
                </a:solidFill>
                <a:latin typeface="Microsoft YaHei"/>
              </a:rPr>
              <a:t>引导启发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333749" y="5486400"/>
            <a:ext cx="8134349" cy="552450"/>
          </a:xfrm>
          <a:prstGeom prst="roundRect">
            <a:avLst>
              <a:gd name="adj" fmla="val 10000"/>
            </a:avLst>
          </a:prstGeom>
          <a:solidFill>
            <a:srgbClr val="FFF7ED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3600450" y="5543550"/>
            <a:ext cx="76009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92400E"/>
                </a:solidFill>
                <a:latin typeface="Microsoft YaHei"/>
              </a:rPr>
              <a:t>大模型不可用、超时或鉴权失败时，自动降级为本地引擎，核心功能零中断。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66750" y="323849"/>
            <a:ext cx="66674" cy="438149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76299" y="304800"/>
            <a:ext cx="8572500" cy="4762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0F172A"/>
                </a:solidFill>
                <a:latin typeface="Microsoft YaHei"/>
              </a:rPr>
              <a:t>技术方案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666750" y="6210299"/>
            <a:ext cx="108585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66750" y="6324599"/>
            <a:ext cx="6667499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Microsoft YaHei"/>
              </a:rPr>
              <a:t>智学 · 多模态教学智能体  ｜  越众队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1250" y="6324599"/>
            <a:ext cx="1523999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Microsoft YaHei"/>
              </a:rPr>
              <a:t>10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6750" y="1238249"/>
            <a:ext cx="2857500" cy="4905375"/>
          </a:xfrm>
          <a:prstGeom prst="roundRect">
            <a:avLst>
              <a:gd name="adj" fmla="val 4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52499" y="1638299"/>
            <a:ext cx="2286000" cy="247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BFDBFE"/>
                </a:solidFill>
                <a:latin typeface="Arial"/>
              </a:rPr>
              <a:t>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499" y="1981199"/>
            <a:ext cx="2286000" cy="533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FFFFFF"/>
                </a:solidFill>
                <a:latin typeface="Microsoft YaHei"/>
              </a:rPr>
              <a:t>四层技术栈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499" y="2724150"/>
            <a:ext cx="2286000" cy="1523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5000"/>
              </a:lnSpc>
            </a:pPr>
            <a:r>
              <a:rPr sz="1600" b="0">
                <a:solidFill>
                  <a:srgbClr val="DBEAFE"/>
                </a:solidFill>
                <a:latin typeface="Microsoft YaHei"/>
              </a:rPr>
              <a:t>零构建、零依赖、零后端。</a:t>
            </a:r>
          </a:p>
          <a:p>
            <a:pPr algn="l">
              <a:lnSpc>
                <a:spcPct val="175000"/>
              </a:lnSpc>
            </a:pPr>
            <a:r>
              <a:rPr sz="1600" b="0">
                <a:solidFill>
                  <a:srgbClr val="DBEAFE"/>
                </a:solidFill>
                <a:latin typeface="Microsoft YaHei"/>
              </a:rPr>
              <a:t>全部由原生 HTML / CSS /</a:t>
            </a:r>
          </a:p>
          <a:p>
            <a:pPr algn="l">
              <a:lnSpc>
                <a:spcPct val="175000"/>
              </a:lnSpc>
            </a:pPr>
            <a:r>
              <a:rPr sz="1600" b="0">
                <a:solidFill>
                  <a:srgbClr val="DBEAFE"/>
                </a:solidFill>
                <a:latin typeface="Microsoft YaHei"/>
              </a:rPr>
              <a:t>JavaScript 实现，起一个</a:t>
            </a:r>
          </a:p>
          <a:p>
            <a:pPr algn="l">
              <a:lnSpc>
                <a:spcPct val="175000"/>
              </a:lnSpc>
            </a:pPr>
            <a:r>
              <a:rPr sz="1600" b="0">
                <a:solidFill>
                  <a:srgbClr val="DBEAFE"/>
                </a:solidFill>
                <a:latin typeface="Microsoft YaHei"/>
              </a:rPr>
              <a:t>静态服务器就能跑起来。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05249" y="1295399"/>
            <a:ext cx="7619999" cy="1123949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905249" y="1295399"/>
            <a:ext cx="66674" cy="1123949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171950" y="1447800"/>
            <a:ext cx="2857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1">
                <a:solidFill>
                  <a:srgbClr val="0F172A"/>
                </a:solidFill>
                <a:latin typeface="Microsoft YaHei"/>
              </a:rPr>
              <a:t>界面与交互层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71950" y="1847849"/>
            <a:ext cx="718184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475569"/>
                </a:solidFill>
                <a:latin typeface="Microsoft YaHei"/>
              </a:rPr>
              <a:t>原生 HTML + CSS，七个功能面板单页切换，无框架无打包，源码即产物。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05249" y="2514600"/>
            <a:ext cx="7619999" cy="1123949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3905249" y="2514600"/>
            <a:ext cx="66674" cy="1123949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171950" y="2667000"/>
            <a:ext cx="2857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1">
                <a:solidFill>
                  <a:srgbClr val="0F172A"/>
                </a:solidFill>
                <a:latin typeface="Microsoft YaHei"/>
              </a:rPr>
              <a:t>图形渲染层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71950" y="3067050"/>
            <a:ext cx="718184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475569"/>
                </a:solidFill>
                <a:latin typeface="Microsoft YaHei"/>
              </a:rPr>
              <a:t>图像视觉分析、知识图谱、思维导图与雷达图，全部 Canvas 2D 手绘。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05249" y="3733799"/>
            <a:ext cx="7619999" cy="1123949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3905249" y="3733799"/>
            <a:ext cx="66674" cy="1123949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171950" y="3886200"/>
            <a:ext cx="2857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1">
                <a:solidFill>
                  <a:srgbClr val="0F172A"/>
                </a:solidFill>
                <a:latin typeface="Microsoft YaHei"/>
              </a:rPr>
              <a:t>算法层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71950" y="4286250"/>
            <a:ext cx="718184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475569"/>
                </a:solidFill>
                <a:latin typeface="Microsoft YaHei"/>
              </a:rPr>
              <a:t>分词向量化、TF-IDF、余弦相似度、Dice 系数、自动出题与判分。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05249" y="4952999"/>
            <a:ext cx="7619999" cy="1123949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3905249" y="4952999"/>
            <a:ext cx="66674" cy="1123949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171950" y="5105400"/>
            <a:ext cx="2857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1">
                <a:solidFill>
                  <a:srgbClr val="0F172A"/>
                </a:solidFill>
                <a:latin typeface="Microsoft YaHei"/>
              </a:rPr>
              <a:t>模型接入层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71950" y="5505450"/>
            <a:ext cx="718184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475569"/>
                </a:solidFill>
                <a:latin typeface="Microsoft YaHei"/>
              </a:rPr>
              <a:t>OpenAI 兼容协议封装，可切换多家大模型，密钥仅存本地。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66750" y="323849"/>
            <a:ext cx="66674" cy="438149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76299" y="304800"/>
            <a:ext cx="8572500" cy="4762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0F172A"/>
                </a:solidFill>
                <a:latin typeface="Microsoft YaHei"/>
              </a:rPr>
              <a:t>工程上的三个坚持</a:t>
            </a:r>
          </a:p>
        </p:txBody>
      </p:sp>
      <p:sp>
        <p:nvSpPr>
          <p:cNvPr id="4" name="Rectangle 3"/>
          <p:cNvSpPr/>
          <p:nvPr/>
        </p:nvSpPr>
        <p:spPr>
          <a:xfrm>
            <a:off x="666750" y="6210299"/>
            <a:ext cx="108585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66750" y="6324599"/>
            <a:ext cx="6667499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Microsoft YaHei"/>
              </a:rPr>
              <a:t>智学 · 多模态教学智能体  ｜  越众队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1250" y="6324599"/>
            <a:ext cx="1523999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Microsoft YaHei"/>
              </a:rPr>
              <a:t>11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6750" y="1219200"/>
            <a:ext cx="10858500" cy="1828800"/>
          </a:xfrm>
          <a:prstGeom prst="roundRect">
            <a:avLst>
              <a:gd name="adj" fmla="val 4500"/>
            </a:avLst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28700" y="1485900"/>
            <a:ext cx="10134599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不为演示方便牺牲架构：能本地算的绝不依赖服务，能降级的绝不硬失败。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8700" y="2038349"/>
            <a:ext cx="10134599" cy="76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700" b="0">
                <a:solidFill>
                  <a:srgbClr val="C7D6EC"/>
                </a:solidFill>
                <a:latin typeface="Microsoft YaHei"/>
              </a:rPr>
              <a:t>三条原则贯穿全部模块——它们不是加分项，而是决定这个工具能不能真正被老师与学生日常使用的基本盘。</a:t>
            </a:r>
          </a:p>
        </p:txBody>
      </p:sp>
      <p:sp>
        <p:nvSpPr>
          <p:cNvPr id="10" name="Oval 9"/>
          <p:cNvSpPr/>
          <p:nvPr/>
        </p:nvSpPr>
        <p:spPr>
          <a:xfrm>
            <a:off x="8572500" y="2514600"/>
            <a:ext cx="228600" cy="2286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9124950" y="2514600"/>
            <a:ext cx="228600" cy="22860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677399" y="2514600"/>
            <a:ext cx="228600" cy="2286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66750" y="3238500"/>
            <a:ext cx="3505199" cy="28575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66750" y="3238500"/>
            <a:ext cx="3505199" cy="76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933449" y="3543300"/>
            <a:ext cx="438149" cy="438149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3449" y="3543300"/>
            <a:ext cx="438149" cy="4381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3449" y="4171950"/>
            <a:ext cx="29718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b="1">
                <a:solidFill>
                  <a:srgbClr val="0F172A"/>
                </a:solidFill>
                <a:latin typeface="Microsoft YaHei"/>
              </a:rPr>
              <a:t>零后端部署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3449" y="4591050"/>
            <a:ext cx="2971800" cy="952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475569"/>
                </a:solidFill>
                <a:latin typeface="Microsoft YaHei"/>
              </a:rPr>
              <a:t>整个项目是静态文件，单文件版双击即用；无服务器、无数据库、无运维成本。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3449" y="5676900"/>
            <a:ext cx="2971800" cy="3429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3449" y="5676900"/>
            <a:ext cx="29718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零运维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3238500"/>
            <a:ext cx="3505199" cy="28575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4343400" y="3238500"/>
            <a:ext cx="3505199" cy="76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610099" y="3543300"/>
            <a:ext cx="438149" cy="438149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610099" y="3543300"/>
            <a:ext cx="438149" cy="4381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0099" y="4171950"/>
            <a:ext cx="29718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b="1">
                <a:solidFill>
                  <a:srgbClr val="0F172A"/>
                </a:solidFill>
                <a:latin typeface="Microsoft YaHei"/>
              </a:rPr>
              <a:t>失败可降级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0099" y="4591050"/>
            <a:ext cx="2971800" cy="952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475569"/>
                </a:solidFill>
                <a:latin typeface="Microsoft YaHei"/>
              </a:rPr>
              <a:t>OCR 下载失败走手动粘贴；大模型超时或鉴权失败自动回退本地引擎，不白屏。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10099" y="5676900"/>
            <a:ext cx="2971800" cy="3429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10099" y="5676900"/>
            <a:ext cx="29718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零中断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20049" y="3238500"/>
            <a:ext cx="3505199" cy="28575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8020049" y="3238500"/>
            <a:ext cx="3505199" cy="762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8286750" y="3543300"/>
            <a:ext cx="438149" cy="438149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286750" y="3543300"/>
            <a:ext cx="438149" cy="4381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86750" y="4171950"/>
            <a:ext cx="29718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b="1">
                <a:solidFill>
                  <a:srgbClr val="0F172A"/>
                </a:solidFill>
                <a:latin typeface="Microsoft YaHei"/>
              </a:rPr>
              <a:t>数据不出本机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86750" y="4591050"/>
            <a:ext cx="2971800" cy="952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475569"/>
                </a:solidFill>
                <a:latin typeface="Microsoft YaHei"/>
              </a:rPr>
              <a:t>讲义、语料、错题留在浏览器内存；密钥只写 localStorage，不进代码、不进仓库。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86750" y="5676900"/>
            <a:ext cx="2971800" cy="3429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286750" y="5676900"/>
            <a:ext cx="29718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零上传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66750" y="323849"/>
            <a:ext cx="66674" cy="438149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76299" y="304800"/>
            <a:ext cx="8572500" cy="4762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0F172A"/>
                </a:solidFill>
                <a:latin typeface="Microsoft YaHei"/>
              </a:rPr>
              <a:t>我们用 LearnBuddy 是怎么做的</a:t>
            </a:r>
          </a:p>
        </p:txBody>
      </p:sp>
      <p:sp>
        <p:nvSpPr>
          <p:cNvPr id="4" name="Rectangle 3"/>
          <p:cNvSpPr/>
          <p:nvPr/>
        </p:nvSpPr>
        <p:spPr>
          <a:xfrm>
            <a:off x="666750" y="6210299"/>
            <a:ext cx="108585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66750" y="6324599"/>
            <a:ext cx="6667499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Microsoft YaHei"/>
              </a:rPr>
              <a:t>智学 · 多模态教学智能体  ｜  越众队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1250" y="6324599"/>
            <a:ext cx="1523999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Microsoft YaHei"/>
              </a:rPr>
              <a:t>12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50" y="1333500"/>
            <a:ext cx="2857500" cy="1904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0" b="1">
                <a:solidFill>
                  <a:srgbClr val="F59E0B"/>
                </a:solidFill>
                <a:latin typeface="Arial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900" y="3047999"/>
            <a:ext cx="2857500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0F172A"/>
                </a:solidFill>
                <a:latin typeface="Microsoft YaHei"/>
              </a:rPr>
              <a:t>个环节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900" y="3543300"/>
            <a:ext cx="2762249" cy="18097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600" b="0">
                <a:solidFill>
                  <a:srgbClr val="475569"/>
                </a:solidFill>
                <a:latin typeface="Microsoft YaHei"/>
              </a:rPr>
              <a:t>AI 承担执行与加速，</a:t>
            </a:r>
          </a:p>
          <a:p>
            <a:pPr algn="l">
              <a:lnSpc>
                <a:spcPct val="170000"/>
              </a:lnSpc>
            </a:pPr>
            <a:r>
              <a:rPr sz="1600" b="0">
                <a:solidFill>
                  <a:srgbClr val="475569"/>
                </a:solidFill>
                <a:latin typeface="Microsoft YaHei"/>
              </a:rPr>
              <a:t>选题、架构权衡、</a:t>
            </a:r>
          </a:p>
          <a:p>
            <a:pPr algn="l">
              <a:lnSpc>
                <a:spcPct val="170000"/>
              </a:lnSpc>
            </a:pPr>
            <a:r>
              <a:rPr sz="1600" b="0">
                <a:solidFill>
                  <a:srgbClr val="475569"/>
                </a:solidFill>
                <a:latin typeface="Microsoft YaHei"/>
              </a:rPr>
              <a:t>内容把关与最终决策，</a:t>
            </a:r>
          </a:p>
          <a:p>
            <a:pPr algn="l">
              <a:lnSpc>
                <a:spcPct val="170000"/>
              </a:lnSpc>
            </a:pPr>
            <a:r>
              <a:rPr sz="1600" b="0">
                <a:solidFill>
                  <a:srgbClr val="475569"/>
                </a:solidFill>
                <a:latin typeface="Microsoft YaHei"/>
              </a:rPr>
              <a:t>始终由我们两个人拍板。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09999" y="1295399"/>
            <a:ext cx="7715250" cy="876299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057650" y="1447800"/>
            <a:ext cx="380999" cy="380999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057650" y="1447800"/>
            <a:ext cx="380999" cy="380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0099" y="1409699"/>
            <a:ext cx="2286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0F172A"/>
                </a:solidFill>
                <a:latin typeface="Microsoft YaHei"/>
              </a:rPr>
              <a:t>需求与方案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0099" y="1790700"/>
            <a:ext cx="66484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475569"/>
                </a:solidFill>
                <a:latin typeface="Microsoft YaHei"/>
              </a:rPr>
              <a:t>多轮讨论赛题与技术路线，自主选定「自带密钥 + 前端直连」。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09999" y="2247899"/>
            <a:ext cx="7715250" cy="876299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4057650" y="2400300"/>
            <a:ext cx="380999" cy="380999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057650" y="2400300"/>
            <a:ext cx="380999" cy="380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0099" y="2362199"/>
            <a:ext cx="2286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0F172A"/>
                </a:solidFill>
                <a:latin typeface="Microsoft YaHei"/>
              </a:rPr>
              <a:t>编码与调试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0099" y="2743200"/>
            <a:ext cx="66484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475569"/>
                </a:solidFill>
                <a:latin typeface="Microsoft YaHei"/>
              </a:rPr>
              <a:t>模块级代码生成与逐个问题修复，打包、跨域等问题由我们定位。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09999" y="3200400"/>
            <a:ext cx="7715250" cy="876299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4057650" y="3352800"/>
            <a:ext cx="380999" cy="380999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057650" y="3352800"/>
            <a:ext cx="380999" cy="380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0099" y="3314700"/>
            <a:ext cx="2286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0F172A"/>
                </a:solidFill>
                <a:latin typeface="Microsoft YaHei"/>
              </a:rPr>
              <a:t>工程自动化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0099" y="3695699"/>
            <a:ext cx="66484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475569"/>
                </a:solidFill>
                <a:latin typeface="Microsoft YaHei"/>
              </a:rPr>
              <a:t>源码抓取与还原、单文件打包、仓库推送，全部 AI 脚本化完成。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09999" y="4152899"/>
            <a:ext cx="7715250" cy="876299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4057650" y="4305300"/>
            <a:ext cx="380999" cy="380999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057650" y="4305300"/>
            <a:ext cx="380999" cy="380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0099" y="4267199"/>
            <a:ext cx="2286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0F172A"/>
                </a:solidFill>
                <a:latin typeface="Microsoft YaHei"/>
              </a:rPr>
              <a:t>文档与物料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0099" y="4648200"/>
            <a:ext cx="66484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475569"/>
                </a:solidFill>
                <a:latin typeface="Microsoft YaHei"/>
              </a:rPr>
              <a:t>说明文档、视频脚本、操作指南与作品介绍，均由我们审阅定稿。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09999" y="5105400"/>
            <a:ext cx="7715250" cy="876299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4057650" y="5257800"/>
            <a:ext cx="380999" cy="380999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057650" y="5257800"/>
            <a:ext cx="380999" cy="380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0099" y="5219700"/>
            <a:ext cx="2286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0F172A"/>
                </a:solidFill>
                <a:latin typeface="Microsoft YaHei"/>
              </a:rPr>
              <a:t>过程可追溯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10099" y="5600700"/>
            <a:ext cx="66484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475569"/>
                </a:solidFill>
                <a:latin typeface="Microsoft YaHei"/>
              </a:rPr>
              <a:t>完整对话记录随作品提交，人机分工清晰——AI 是工具不是替代者。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66750" y="323849"/>
            <a:ext cx="66674" cy="438149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76299" y="304800"/>
            <a:ext cx="8572500" cy="4762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0F172A"/>
                </a:solidFill>
                <a:latin typeface="Microsoft YaHei"/>
              </a:rPr>
              <a:t>团队成员</a:t>
            </a:r>
          </a:p>
        </p:txBody>
      </p:sp>
      <p:sp>
        <p:nvSpPr>
          <p:cNvPr id="4" name="Rectangle 3"/>
          <p:cNvSpPr/>
          <p:nvPr/>
        </p:nvSpPr>
        <p:spPr>
          <a:xfrm>
            <a:off x="666750" y="6210299"/>
            <a:ext cx="108585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66750" y="6324599"/>
            <a:ext cx="6667499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Microsoft YaHei"/>
              </a:rPr>
              <a:t>智学 · 多模态教学智能体  ｜  越众队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1250" y="6324599"/>
            <a:ext cx="1523999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Microsoft YaHei"/>
              </a:rPr>
              <a:t>13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6750" y="1295399"/>
            <a:ext cx="5334000" cy="2133599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52499" y="1562100"/>
            <a:ext cx="4762500" cy="4381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</a:rPr>
              <a:t>李信诺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499" y="2057400"/>
            <a:ext cx="4762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>
                <a:solidFill>
                  <a:srgbClr val="DBEAFE"/>
                </a:solidFill>
                <a:latin typeface="Microsoft YaHei"/>
              </a:rPr>
              <a:t>金融科技学院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499" y="2533649"/>
            <a:ext cx="4762500" cy="76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600" b="0">
                <a:solidFill>
                  <a:srgbClr val="DBEAFE"/>
                </a:solidFill>
                <a:latin typeface="Microsoft YaHei"/>
              </a:rPr>
              <a:t>从教学场景与学习者视角定义需求，</a:t>
            </a:r>
          </a:p>
          <a:p>
            <a:pPr algn="l">
              <a:lnSpc>
                <a:spcPct val="155000"/>
              </a:lnSpc>
            </a:pPr>
            <a:r>
              <a:rPr sz="1600" b="0">
                <a:solidFill>
                  <a:srgbClr val="DBEAFE"/>
                </a:solidFill>
                <a:latin typeface="Microsoft YaHei"/>
              </a:rPr>
              <a:t>负责知识结构、题库口径与答辩材料。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50" y="3581400"/>
            <a:ext cx="5334000" cy="2133599"/>
          </a:xfrm>
          <a:prstGeom prst="roundRect">
            <a:avLst>
              <a:gd name="adj" fmla="val 5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2499" y="3848099"/>
            <a:ext cx="4762500" cy="4381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</a:rPr>
              <a:t>李承杰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499" y="4343400"/>
            <a:ext cx="4762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>
                <a:solidFill>
                  <a:srgbClr val="C7F0FA"/>
                </a:solidFill>
                <a:latin typeface="Microsoft YaHei"/>
              </a:rPr>
              <a:t>计算机与软件学院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2499" y="4819650"/>
            <a:ext cx="4762500" cy="76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600" b="0">
                <a:solidFill>
                  <a:srgbClr val="C7F0FA"/>
                </a:solidFill>
                <a:latin typeface="Microsoft YaHei"/>
              </a:rPr>
              <a:t>负责前端架构与算法实现，</a:t>
            </a:r>
          </a:p>
          <a:p>
            <a:pPr algn="l">
              <a:lnSpc>
                <a:spcPct val="155000"/>
              </a:lnSpc>
            </a:pPr>
            <a:r>
              <a:rPr sz="1600" b="0">
                <a:solidFill>
                  <a:srgbClr val="C7F0FA"/>
                </a:solidFill>
                <a:latin typeface="Microsoft YaHei"/>
              </a:rPr>
              <a:t>含图文解析、图谱渲染、RAG 与容错。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53249" y="1295399"/>
            <a:ext cx="4572000" cy="11430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219950" y="1485900"/>
            <a:ext cx="403859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0F172A"/>
                </a:solidFill>
                <a:latin typeface="Microsoft YaHei"/>
              </a:rPr>
              <a:t>共同完成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19950" y="1866899"/>
            <a:ext cx="403859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475569"/>
                </a:solidFill>
                <a:latin typeface="Microsoft YaHei"/>
              </a:rPr>
              <a:t>两人共同完成前端开发与智能体整体构建。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53249" y="2590799"/>
            <a:ext cx="4572000" cy="144780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219950" y="2781300"/>
            <a:ext cx="403859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92400E"/>
                </a:solidFill>
                <a:latin typeface="Microsoft YaHei"/>
              </a:rPr>
              <a:t>跨专业组队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19950" y="3143250"/>
            <a:ext cx="4038599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92400E"/>
                </a:solidFill>
                <a:latin typeface="Microsoft YaHei"/>
              </a:rPr>
              <a:t>金融科技 × 计算机与软件，业务视角</a:t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92400E"/>
                </a:solidFill>
                <a:latin typeface="Microsoft YaHei"/>
              </a:rPr>
              <a:t>与工程能力互补，既贴场景又保证质量。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53249" y="4190999"/>
            <a:ext cx="4572000" cy="1523999"/>
          </a:xfrm>
          <a:prstGeom prst="roundRect">
            <a:avLst>
              <a:gd name="adj" fmla="val 5000"/>
            </a:avLst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219950" y="4381499"/>
            <a:ext cx="403859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</a:rPr>
              <a:t>队名：越众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19950" y="4743450"/>
            <a:ext cx="4038599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C7D6EC"/>
                </a:solidFill>
                <a:latin typeface="Microsoft YaHei"/>
              </a:rPr>
              <a:t>取「越过众人」之意——不追逐更大的模型，而是把已有的能力组织得更好用一点。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096249" y="-857250"/>
            <a:ext cx="5143500" cy="5143500"/>
          </a:xfrm>
          <a:prstGeom prst="ellipse">
            <a:avLst/>
          </a:prstGeom>
          <a:solidFill>
            <a:srgbClr val="14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-857250" y="4000500"/>
            <a:ext cx="4000500" cy="4000500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095999" y="2857500"/>
            <a:ext cx="85725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333500" y="2362199"/>
            <a:ext cx="9525000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5400" b="1">
                <a:solidFill>
                  <a:srgbClr val="FFFFFF"/>
                </a:solidFill>
                <a:latin typeface="Microsoft YaHei"/>
              </a:rPr>
              <a:t>让每一份讲义，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3257550"/>
            <a:ext cx="9525000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5400" b="1">
                <a:solidFill>
                  <a:srgbClr val="FFFFFF"/>
                </a:solidFill>
                <a:latin typeface="Microsoft YaHei"/>
              </a:rPr>
              <a:t>都变成可交互的知识网络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" y="4343400"/>
            <a:ext cx="9525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2400" b="0">
                <a:solidFill>
                  <a:srgbClr val="06B6D4"/>
                </a:solidFill>
                <a:latin typeface="Microsoft YaHei"/>
              </a:rPr>
              <a:t>智学 · 多模态教学智能体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3500" y="5391150"/>
            <a:ext cx="9525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900" b="0">
                <a:solidFill>
                  <a:srgbClr val="93A9C9"/>
                </a:solidFill>
                <a:latin typeface="Microsoft YaHei"/>
              </a:rPr>
              <a:t>越众队 · 李信诺 · 李承杰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3500" y="5829300"/>
            <a:ext cx="952500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500" b="0">
                <a:solidFill>
                  <a:srgbClr val="64748B"/>
                </a:solidFill>
                <a:latin typeface="Microsoft YaHei"/>
              </a:rPr>
              <a:t>深大计软 × 腾讯云 · 粤港澳大湾区 AI Coding 创新大赛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